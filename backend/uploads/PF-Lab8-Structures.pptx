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1" r:id="rId1"/>
  </p:sldMasterIdLst>
  <p:notesMasterIdLst>
    <p:notesMasterId r:id="rId23"/>
  </p:notesMasterIdLst>
  <p:sldIdLst>
    <p:sldId id="323" r:id="rId2"/>
    <p:sldId id="356" r:id="rId3"/>
    <p:sldId id="345" r:id="rId4"/>
    <p:sldId id="366" r:id="rId5"/>
    <p:sldId id="359" r:id="rId6"/>
    <p:sldId id="325" r:id="rId7"/>
    <p:sldId id="349" r:id="rId8"/>
    <p:sldId id="348" r:id="rId9"/>
    <p:sldId id="358" r:id="rId10"/>
    <p:sldId id="363" r:id="rId11"/>
    <p:sldId id="365" r:id="rId12"/>
    <p:sldId id="364" r:id="rId13"/>
    <p:sldId id="351" r:id="rId14"/>
    <p:sldId id="352" r:id="rId15"/>
    <p:sldId id="353" r:id="rId16"/>
    <p:sldId id="355" r:id="rId17"/>
    <p:sldId id="343" r:id="rId18"/>
    <p:sldId id="360" r:id="rId19"/>
    <p:sldId id="362" r:id="rId20"/>
    <p:sldId id="361" r:id="rId21"/>
    <p:sldId id="344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84" autoAdjust="0"/>
    <p:restoredTop sz="91577" autoAdjust="0"/>
  </p:normalViewPr>
  <p:slideViewPr>
    <p:cSldViewPr snapToGrid="0">
      <p:cViewPr varScale="1">
        <p:scale>
          <a:sx n="71" d="100"/>
          <a:sy n="71" d="100"/>
        </p:scale>
        <p:origin x="288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6D1F9-9F4C-496C-BDCC-4A9FDD68C929}" type="datetimeFigureOut">
              <a:rPr lang="en-US"/>
              <a:pPr/>
              <a:t>3/7/2021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EC7602-6E33-407F-94B3-377BE62CDA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972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997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39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8650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894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780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71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3805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EC7602-6E33-407F-94B3-377BE62CDAC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42251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020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52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1414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8631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068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216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1674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6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55678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6771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16418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35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919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17212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125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5429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6805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3/7/2021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620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  <p:sldLayoutId id="2147483804" r:id="rId13"/>
    <p:sldLayoutId id="2147483805" r:id="rId14"/>
    <p:sldLayoutId id="2147483806" r:id="rId15"/>
    <p:sldLayoutId id="2147483807" r:id="rId16"/>
    <p:sldLayoutId id="2147483808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6589" y="3200400"/>
            <a:ext cx="9222603" cy="1371600"/>
          </a:xfrm>
        </p:spPr>
        <p:txBody>
          <a:bodyPr/>
          <a:lstStyle/>
          <a:p>
            <a:pPr algn="ctr"/>
            <a:r>
              <a:rPr lang="en-US" sz="4800" b="1" dirty="0" smtClean="0"/>
              <a:t>Programming Fundamentals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  in</a:t>
            </a:r>
            <a:br>
              <a:rPr lang="en-US" dirty="0" smtClean="0"/>
            </a:br>
            <a:r>
              <a:rPr lang="en-US" dirty="0" smtClean="0"/>
              <a:t>C++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3051" y="4876800"/>
            <a:ext cx="9756141" cy="12954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 </a:t>
            </a:r>
            <a:r>
              <a:rPr lang="en-US" sz="7200" b="1" smtClean="0"/>
              <a:t>(</a:t>
            </a:r>
            <a:r>
              <a:rPr lang="en-US" sz="6600" b="1" smtClean="0"/>
              <a:t>Practical#6)</a:t>
            </a:r>
            <a:endParaRPr lang="en-US" b="1" dirty="0" smtClean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920111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2"/>
          <p:cNvSpPr txBox="1"/>
          <p:nvPr/>
        </p:nvSpPr>
        <p:spPr>
          <a:xfrm>
            <a:off x="564774" y="316373"/>
            <a:ext cx="11463130" cy="6407156"/>
          </a:xfrm>
          <a:prstGeom prst="rect">
            <a:avLst/>
          </a:prstGeom>
        </p:spPr>
        <p:txBody>
          <a:bodyPr/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To become familiar with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in C++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a collection of simple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variables in a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of different types, some can be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some can be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,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char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so on. 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data items (variables) in a structure are called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of the structure</a:t>
            </a: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Structure 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is a collection of variables of different data types under a single name. </a:t>
            </a:r>
            <a:endParaRPr lang="en-US" sz="3200" dirty="0" smtClean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 collection </a:t>
            </a:r>
            <a:r>
              <a:rPr lang="en-US" sz="3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of data of different data types</a:t>
            </a:r>
            <a:r>
              <a:rPr lang="en-US" sz="3200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OR Collection of Heterogeneous data types	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</a:t>
            </a:r>
            <a:r>
              <a:rPr lang="en-US" sz="3200" b="1" dirty="0" smtClean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	  </a:t>
            </a:r>
            <a:r>
              <a:rPr lang="en-US" sz="32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	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329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2"/>
          <p:cNvSpPr txBox="1"/>
          <p:nvPr/>
        </p:nvSpPr>
        <p:spPr>
          <a:xfrm>
            <a:off x="618562" y="7091"/>
            <a:ext cx="10596285" cy="6662649"/>
          </a:xfrm>
          <a:prstGeom prst="rect">
            <a:avLst/>
          </a:prstGeom>
        </p:spPr>
        <p:txBody>
          <a:bodyPr/>
          <a:lstStyle/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 smtClean="0"/>
          </a:p>
          <a:p>
            <a:endParaRPr lang="en-US" dirty="0"/>
          </a:p>
          <a:p>
            <a:r>
              <a:rPr lang="en-US" sz="2800" dirty="0" smtClean="0"/>
              <a:t>A </a:t>
            </a:r>
            <a:r>
              <a:rPr lang="en-US" sz="2800" dirty="0"/>
              <a:t>structure is a user defined data type </a:t>
            </a:r>
            <a:r>
              <a:rPr lang="en-US" sz="2800" dirty="0" smtClean="0"/>
              <a:t>in C</a:t>
            </a:r>
            <a:r>
              <a:rPr lang="en-US" sz="2800" dirty="0"/>
              <a:t>++. </a:t>
            </a:r>
            <a:endParaRPr lang="en-US" sz="2800" dirty="0" smtClean="0"/>
          </a:p>
          <a:p>
            <a:r>
              <a:rPr lang="en-US" sz="2800" dirty="0" smtClean="0"/>
              <a:t>A </a:t>
            </a:r>
            <a:r>
              <a:rPr lang="en-US" sz="2800" dirty="0"/>
              <a:t>structure creates a data type that can be used to group items of possibly different types into a single type.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smtClean="0"/>
              <a:t>Structure is </a:t>
            </a:r>
            <a:r>
              <a:rPr lang="en-US" sz="3600" b="1" dirty="0"/>
              <a:t>defined by the </a:t>
            </a:r>
            <a:r>
              <a:rPr lang="en-US" sz="3600" b="1" dirty="0" smtClean="0"/>
              <a:t>(</a:t>
            </a:r>
            <a:r>
              <a:rPr lang="en-US" sz="3600" b="1" dirty="0"/>
              <a:t>programmer): </a:t>
            </a:r>
            <a:endParaRPr lang="en-US" sz="3600" b="1" dirty="0" smtClean="0"/>
          </a:p>
          <a:p>
            <a:endParaRPr lang="en-US" sz="3600" dirty="0"/>
          </a:p>
          <a:p>
            <a:r>
              <a:rPr lang="en-US" sz="3600" dirty="0"/>
              <a:t>T</a:t>
            </a:r>
            <a:r>
              <a:rPr lang="en-US" sz="3600" dirty="0" smtClean="0"/>
              <a:t>he </a:t>
            </a:r>
            <a:r>
              <a:rPr lang="en-US" sz="3600" dirty="0" smtClean="0"/>
              <a:t>structures</a:t>
            </a:r>
            <a:r>
              <a:rPr lang="en-US" sz="3600" dirty="0"/>
              <a:t> </a:t>
            </a:r>
            <a:r>
              <a:rPr lang="en-US" sz="3600" dirty="0" smtClean="0"/>
              <a:t> are called  </a:t>
            </a:r>
            <a:r>
              <a:rPr lang="en-US" sz="3600" dirty="0"/>
              <a:t>user </a:t>
            </a:r>
            <a:r>
              <a:rPr lang="en-US" sz="3600" dirty="0" smtClean="0"/>
              <a:t>defined or programmer defined  </a:t>
            </a:r>
            <a:r>
              <a:rPr lang="en-US" sz="3600" dirty="0"/>
              <a:t>data types:</a:t>
            </a:r>
            <a:endParaRPr lang="en-US" sz="4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440557" y="412142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977163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2"/>
          <p:cNvSpPr txBox="1"/>
          <p:nvPr/>
        </p:nvSpPr>
        <p:spPr>
          <a:xfrm>
            <a:off x="618562" y="7091"/>
            <a:ext cx="10596285" cy="6662649"/>
          </a:xfrm>
          <a:prstGeom prst="rect">
            <a:avLst/>
          </a:prstGeom>
        </p:spPr>
        <p:txBody>
          <a:bodyPr/>
          <a:lstStyle/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of Simple datatypes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440557" y="412142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605290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2"/>
          <p:cNvSpPr txBox="1"/>
          <p:nvPr/>
        </p:nvSpPr>
        <p:spPr>
          <a:xfrm>
            <a:off x="618562" y="7091"/>
            <a:ext cx="10596285" cy="6662649"/>
          </a:xfrm>
          <a:prstGeom prst="rect">
            <a:avLst/>
          </a:prstGeom>
        </p:spPr>
        <p:txBody>
          <a:bodyPr/>
          <a:lstStyle/>
          <a:p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		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Dept.		….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Employee	</a:t>
            </a:r>
          </a:p>
          <a:p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empno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ename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jobtitle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		</a:t>
            </a:r>
            <a:r>
              <a:rPr lang="en-US" sz="3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hiredate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salary ….</a:t>
            </a:r>
          </a:p>
          <a:p>
            <a:r>
              <a:rPr lang="en-US" sz="10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16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" name="Straight Connector 2"/>
          <p:cNvCxnSpPr/>
          <p:nvPr/>
        </p:nvCxnSpPr>
        <p:spPr>
          <a:xfrm>
            <a:off x="6440557" y="4121426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75097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b="1" dirty="0" smtClean="0"/>
              <a:t> Structures</a:t>
            </a:r>
            <a:endParaRPr lang="en-US" sz="4800" b="1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54953" y="2339788"/>
            <a:ext cx="10533463" cy="4289612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the structure </a:t>
            </a:r>
          </a:p>
          <a:p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a structure variable</a:t>
            </a:r>
          </a:p>
          <a:p>
            <a:endParaRPr lang="en-US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the members of the structure </a:t>
            </a:r>
            <a:endParaRPr lang="en-US" sz="5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sz="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		                             	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450" y="973668"/>
            <a:ext cx="8761413" cy="706964"/>
          </a:xfrm>
        </p:spPr>
        <p:txBody>
          <a:bodyPr/>
          <a:lstStyle/>
          <a:p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</a:t>
            </a:r>
            <a:r>
              <a:rPr lang="en-US" sz="5400" b="1" dirty="0"/>
              <a:t/>
            </a:r>
            <a:br>
              <a:rPr lang="en-US" sz="5400" b="1" dirty="0"/>
            </a:br>
            <a:endParaRPr lang="en-US" sz="54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6568" y="2206098"/>
            <a:ext cx="11514128" cy="428961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declaration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tells how the structure is organized: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specifies what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will have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declaration does not set aside any space in memory or even define any variables.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	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546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the structure </a:t>
            </a:r>
            <a:endParaRPr b="1" dirty="0"/>
          </a:p>
        </p:txBody>
      </p:sp>
      <p:sp>
        <p:nvSpPr>
          <p:cNvPr id="122" name="TextShape 2"/>
          <p:cNvSpPr txBox="1"/>
          <p:nvPr/>
        </p:nvSpPr>
        <p:spPr>
          <a:xfrm>
            <a:off x="878421" y="790140"/>
            <a:ext cx="10515240" cy="606786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    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name or “tag”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students 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	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obtMarks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Structure Members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};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smtClean="0"/>
              <a:t>                            Semicolon terminate Specifier</a:t>
            </a:r>
            <a:endParaRPr lang="en-US" sz="36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252869" y="1258957"/>
            <a:ext cx="1643270" cy="78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638261" y="1713858"/>
            <a:ext cx="1683026" cy="413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5526158" y="3180522"/>
            <a:ext cx="128944" cy="15372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2796209" y="5102087"/>
            <a:ext cx="1709530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738564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the structure </a:t>
            </a:r>
            <a:endParaRPr b="1" dirty="0"/>
          </a:p>
        </p:txBody>
      </p:sp>
      <p:sp>
        <p:nvSpPr>
          <p:cNvPr id="122" name="TextShape 2"/>
          <p:cNvSpPr txBox="1"/>
          <p:nvPr/>
        </p:nvSpPr>
        <p:spPr>
          <a:xfrm>
            <a:off x="878421" y="790140"/>
            <a:ext cx="10515240" cy="606786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Example       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Keyword</a:t>
            </a: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 name or “tag”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students 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{	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obtMarks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  Structure Members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float per;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};</a:t>
            </a:r>
          </a:p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b="1" dirty="0" smtClean="0"/>
              <a:t>                            Semicolon terminate Specifier</a:t>
            </a:r>
            <a:endParaRPr lang="en-US" sz="3600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2252869" y="1258957"/>
            <a:ext cx="1643270" cy="7818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4638261" y="1713858"/>
            <a:ext cx="1683026" cy="413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ight Brace 10"/>
          <p:cNvSpPr/>
          <p:nvPr/>
        </p:nvSpPr>
        <p:spPr>
          <a:xfrm>
            <a:off x="5526158" y="3180522"/>
            <a:ext cx="128944" cy="1537252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/>
          <p:nvPr/>
        </p:nvCxnSpPr>
        <p:spPr>
          <a:xfrm flipH="1" flipV="1">
            <a:off x="2796209" y="5102087"/>
            <a:ext cx="1709530" cy="7288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6162860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450" y="973668"/>
            <a:ext cx="8761413" cy="706964"/>
          </a:xfrm>
        </p:spPr>
        <p:txBody>
          <a:bodyPr/>
          <a:lstStyle/>
          <a:p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Declaring </a:t>
            </a: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</a:t>
            </a:r>
            <a:r>
              <a:rPr lang="en-US" sz="5400" b="1" dirty="0"/>
              <a:t/>
            </a:r>
            <a:br>
              <a:rPr lang="en-US" sz="5400" b="1" dirty="0"/>
            </a:br>
            <a:endParaRPr lang="en-US" sz="5400" dirty="0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346568" y="2286780"/>
            <a:ext cx="11514128" cy="4289612"/>
          </a:xfrm>
        </p:spPr>
        <p:txBody>
          <a:bodyPr>
            <a:no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structure declaration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tells how the structure is organized: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specifies what 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will have</a:t>
            </a: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4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structure declaration does not set aside any space in memory or even define any variables.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	                             	</a:t>
            </a:r>
          </a:p>
          <a:p>
            <a:endParaRPr lang="en-US" sz="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333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Declaration and  Definition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6970" y="2218765"/>
            <a:ext cx="10380606" cy="4639235"/>
          </a:xfrm>
        </p:spPr>
        <p:txBody>
          <a:bodyPr>
            <a:normAutofit/>
          </a:bodyPr>
          <a:lstStyle/>
          <a:p>
            <a:pPr algn="just"/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variable’s declaration introduces a </a:t>
            </a:r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variable’s name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a program and specifies its </a:t>
            </a:r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type.</a:t>
            </a:r>
          </a:p>
          <a:p>
            <a:pPr algn="just"/>
            <a:endParaRPr lang="en-US" sz="4000" b="1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 Definition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introduces 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variable’s name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into a program and specifies its </a:t>
            </a:r>
            <a:r>
              <a:rPr lang="en-US" sz="40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 also </a:t>
            </a:r>
            <a:r>
              <a:rPr lang="en-US" sz="400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sets aside, memory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the </a:t>
            </a:r>
            <a:r>
              <a:rPr lang="en-US" sz="4000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lang="en-US" sz="40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4000" dirty="0" smtClean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4000" dirty="0"/>
          </a:p>
          <a:p>
            <a:pPr lvl="1"/>
            <a:endParaRPr lang="en-US" sz="4000" dirty="0" smtClean="0"/>
          </a:p>
          <a:p>
            <a:pPr lvl="1"/>
            <a:endParaRPr lang="en-US" sz="4000" dirty="0" smtClean="0"/>
          </a:p>
          <a:p>
            <a:pPr lvl="1"/>
            <a:endParaRPr lang="en-US" sz="4000" dirty="0"/>
          </a:p>
          <a:p>
            <a:pPr lvl="1"/>
            <a:endParaRPr lang="en-US" sz="4000" dirty="0" smtClean="0"/>
          </a:p>
          <a:p>
            <a:pPr lvl="1"/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1620380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2"/>
          <p:cNvSpPr txBox="1"/>
          <p:nvPr/>
        </p:nvSpPr>
        <p:spPr>
          <a:xfrm>
            <a:off x="164980" y="744567"/>
            <a:ext cx="11003400" cy="5476192"/>
          </a:xfrm>
          <a:prstGeom prst="rect">
            <a:avLst/>
          </a:prstGeom>
        </p:spPr>
        <p:txBody>
          <a:bodyPr/>
          <a:lstStyle/>
          <a:p>
            <a:r>
              <a:rPr lang="en-US" sz="1600" dirty="0"/>
              <a:t>	</a:t>
            </a:r>
          </a:p>
          <a:p>
            <a:endParaRPr lang="en-US" sz="1100" b="1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152" y="921026"/>
            <a:ext cx="6667500" cy="48577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980" y="921025"/>
            <a:ext cx="5980172" cy="5157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673329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Defining the structure variable</a:t>
            </a:r>
            <a:endParaRPr b="1" dirty="0"/>
          </a:p>
        </p:txBody>
      </p:sp>
      <p:sp>
        <p:nvSpPr>
          <p:cNvPr id="122" name="TextShape 2"/>
          <p:cNvSpPr txBox="1"/>
          <p:nvPr/>
        </p:nvSpPr>
        <p:spPr>
          <a:xfrm>
            <a:off x="374843" y="790140"/>
            <a:ext cx="11565365" cy="606786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std1;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Defines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variable called std1.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definition reserves space in memory for </a:t>
            </a: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std1.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7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Much Space </a:t>
            </a:r>
            <a:r>
              <a:rPr lang="en-US" sz="7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Enough to hold all the members of std1.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 4 bytes for each of the two </a:t>
            </a:r>
            <a:r>
              <a:rPr lang="en-US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(assuming a 32-bit system) 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and 4 bytes for </a:t>
            </a:r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float</a:t>
            </a:r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157215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Structure Members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74843" y="790140"/>
            <a:ext cx="11565365" cy="6067860"/>
          </a:xfrm>
          <a:prstGeom prst="rect">
            <a:avLst/>
          </a:prstGeo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Once a structure variable has been defined, its members can be accessed using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dot operator(.)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called </a:t>
            </a:r>
            <a:r>
              <a:rPr lang="en-US" sz="4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member access operator.</a:t>
            </a:r>
            <a:endParaRPr lang="en-US" sz="4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std1.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name of the structure variable 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(std1) the member access operator(.)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the member name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6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Assigning the values to structure </a:t>
            </a:r>
            <a:r>
              <a:rPr lang="en-US" sz="36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membes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Std1.rollno=2;  std1.obtMarks=500;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2492037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Initializing Structure Members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74843" y="790140"/>
            <a:ext cx="11565365" cy="6067860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students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{	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rollno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obtMarks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         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float per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Void main() {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students std1={2,500,75.5F};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3523901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1"/>
          <p:cNvSpPr txBox="1"/>
          <p:nvPr/>
        </p:nvSpPr>
        <p:spPr>
          <a:xfrm>
            <a:off x="421221" y="0"/>
            <a:ext cx="10515240" cy="923718"/>
          </a:xfrm>
          <a:prstGeom prst="rect">
            <a:avLst/>
          </a:prstGeom>
        </p:spPr>
        <p:txBody>
          <a:bodyPr anchor="ctr"/>
          <a:lstStyle/>
          <a:p>
            <a:r>
              <a:rPr lang="en-US" sz="4400" b="1" dirty="0" smtClean="0"/>
              <a:t>Nested Structures </a:t>
            </a:r>
            <a:endParaRPr lang="en-US" sz="5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" name="TextShape 2"/>
          <p:cNvSpPr txBox="1"/>
          <p:nvPr/>
        </p:nvSpPr>
        <p:spPr>
          <a:xfrm>
            <a:off x="374843" y="790140"/>
            <a:ext cx="7128616" cy="6067860"/>
          </a:xfrm>
          <a:prstGeom prst="rect">
            <a:avLst/>
          </a:prstGeom>
        </p:spPr>
        <p:txBody>
          <a:bodyPr/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Structures within structures</a:t>
            </a:r>
            <a:r>
              <a:rPr lang="en-US" sz="4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7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Author 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string author1;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string author2;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		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Shape 2"/>
          <p:cNvSpPr txBox="1"/>
          <p:nvPr/>
        </p:nvSpPr>
        <p:spPr>
          <a:xfrm>
            <a:off x="5788472" y="1713858"/>
            <a:ext cx="6403528" cy="6067860"/>
          </a:xfrm>
          <a:prstGeom prst="rect">
            <a:avLst/>
          </a:prstGeom>
        </p:spPr>
        <p:txBody>
          <a:bodyPr/>
          <a:lstStyle/>
          <a:p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struct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Books 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string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b_Name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Author </a:t>
            </a:r>
            <a:r>
              <a:rPr lang="en-U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authorname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	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25915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i="1" dirty="0" smtClean="0"/>
              <a:t>Accessing Nested Structure Members</a:t>
            </a:r>
            <a:endParaRPr lang="en-US" sz="3200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9580" y="2245691"/>
            <a:ext cx="10694244" cy="4022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b="1" dirty="0" err="1" smtClean="0"/>
              <a:t>int</a:t>
            </a:r>
            <a:r>
              <a:rPr lang="en-US" sz="3200" b="1" dirty="0" smtClean="0"/>
              <a:t> main() </a:t>
            </a:r>
          </a:p>
          <a:p>
            <a:pPr marL="0" indent="0">
              <a:buNone/>
            </a:pPr>
            <a:r>
              <a:rPr lang="en-US" sz="3200" b="1" dirty="0" smtClean="0"/>
              <a:t>{</a:t>
            </a:r>
          </a:p>
          <a:p>
            <a:pPr marL="0" indent="0">
              <a:buNone/>
            </a:pPr>
            <a:r>
              <a:rPr lang="en-US" sz="3200" b="1" dirty="0" smtClean="0"/>
              <a:t>	Books </a:t>
            </a:r>
            <a:r>
              <a:rPr lang="en-US" sz="3200" b="1" dirty="0"/>
              <a:t>book1;</a:t>
            </a:r>
          </a:p>
          <a:p>
            <a:pPr marL="0" indent="0">
              <a:buNone/>
            </a:pPr>
            <a:r>
              <a:rPr lang="en-US" sz="3200" b="1" dirty="0"/>
              <a:t>	book1.b_Name="C++";</a:t>
            </a:r>
          </a:p>
          <a:p>
            <a:pPr marL="0" indent="0">
              <a:buNone/>
            </a:pPr>
            <a:r>
              <a:rPr lang="en-US" sz="3200" b="1" dirty="0"/>
              <a:t>	book1.authorname.author1="Ali";</a:t>
            </a:r>
          </a:p>
          <a:p>
            <a:pPr marL="0" indent="0">
              <a:buNone/>
            </a:pPr>
            <a:r>
              <a:rPr lang="en-US" sz="3200" b="1" dirty="0"/>
              <a:t>	</a:t>
            </a:r>
            <a:r>
              <a:rPr lang="en-US" sz="3200" b="1" dirty="0" smtClean="0"/>
              <a:t>}</a:t>
            </a:r>
          </a:p>
          <a:p>
            <a:pPr marL="0" indent="0">
              <a:buNone/>
            </a:pPr>
            <a:endParaRPr lang="en-US" sz="3200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2428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2"/>
          <p:cNvSpPr txBox="1"/>
          <p:nvPr/>
        </p:nvSpPr>
        <p:spPr>
          <a:xfrm>
            <a:off x="564774" y="316373"/>
            <a:ext cx="11463130" cy="5950544"/>
          </a:xfrm>
          <a:prstGeom prst="rect">
            <a:avLst/>
          </a:prstGeom>
        </p:spPr>
        <p:txBody>
          <a:bodyPr/>
          <a:lstStyle/>
          <a:p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</a:t>
            </a: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way to define user defined datatypes. 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numeration is an other approach to define your own data types.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defines a set of constants.</a:t>
            </a: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 is a list of all possible values.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endParaRPr lang="en-US" sz="32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enumerations are used  when you know in advance a finite (usually short) list of values that a datatype can take on. 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4171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Shape 2"/>
          <p:cNvSpPr txBox="1"/>
          <p:nvPr/>
        </p:nvSpPr>
        <p:spPr>
          <a:xfrm>
            <a:off x="564774" y="316373"/>
            <a:ext cx="11463130" cy="5950544"/>
          </a:xfrm>
          <a:prstGeom prst="rect">
            <a:avLst/>
          </a:prstGeom>
        </p:spPr>
        <p:txBody>
          <a:bodyPr/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numeration declaration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declaration defines the set of all names that are permissible values.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These permissible values are called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enumerators.</a:t>
            </a: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/>
              <a:t>enum </a:t>
            </a:r>
            <a:r>
              <a:rPr lang="en-US" sz="2800" dirty="0" smtClean="0"/>
              <a:t>days_week {</a:t>
            </a:r>
            <a:r>
              <a:rPr lang="en-US" sz="2800" dirty="0"/>
              <a:t>Mon, Tues, Wed, </a:t>
            </a:r>
            <a:r>
              <a:rPr lang="en-US" sz="2800" dirty="0" smtClean="0"/>
              <a:t>Thu, Fri, Sat, Sun};</a:t>
            </a:r>
            <a:endParaRPr lang="en-US" sz="2800" dirty="0"/>
          </a:p>
          <a:p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endParaRPr lang="en-US" sz="11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815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45350"/>
            <a:ext cx="9269506" cy="69865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enum days_week{Mon, Tues, Wed, </a:t>
            </a:r>
            <a:r>
              <a:rPr lang="en-US" sz="3200" dirty="0" smtClean="0"/>
              <a:t>Thu, Fri, Sat, Sun};</a:t>
            </a:r>
            <a:endParaRPr lang="en-US" sz="3200" dirty="0"/>
          </a:p>
          <a:p>
            <a:endParaRPr lang="en-US" sz="3200" dirty="0"/>
          </a:p>
          <a:p>
            <a:r>
              <a:rPr lang="en-US" sz="3200" dirty="0" err="1"/>
              <a:t>int</a:t>
            </a:r>
            <a:r>
              <a:rPr lang="en-US" sz="3200" dirty="0"/>
              <a:t> main()</a:t>
            </a:r>
          </a:p>
          <a:p>
            <a:r>
              <a:rPr lang="en-US" sz="3200" dirty="0" smtClean="0"/>
              <a:t>{</a:t>
            </a:r>
            <a:r>
              <a:rPr lang="en-US" sz="3200" dirty="0"/>
              <a:t>	</a:t>
            </a:r>
          </a:p>
          <a:p>
            <a:r>
              <a:rPr lang="en-US" sz="3200" dirty="0"/>
              <a:t>	days_week day1=Mon;</a:t>
            </a:r>
          </a:p>
          <a:p>
            <a:r>
              <a:rPr lang="en-US" sz="3200" dirty="0"/>
              <a:t>	days_week day2=Thu;</a:t>
            </a:r>
          </a:p>
          <a:p>
            <a:r>
              <a:rPr lang="en-US" sz="3200" dirty="0"/>
              <a:t>	</a:t>
            </a:r>
          </a:p>
          <a:p>
            <a:r>
              <a:rPr lang="en-US" sz="3200" dirty="0"/>
              <a:t>	</a:t>
            </a:r>
            <a:r>
              <a:rPr lang="en-US" sz="3200" dirty="0" err="1"/>
              <a:t>cout</a:t>
            </a:r>
            <a:r>
              <a:rPr lang="en-US" sz="3200" dirty="0"/>
              <a:t>&lt;&lt;"day1="&lt;&lt;day1;</a:t>
            </a:r>
          </a:p>
          <a:p>
            <a:r>
              <a:rPr lang="en-US" sz="3200" dirty="0"/>
              <a:t>	</a:t>
            </a:r>
            <a:r>
              <a:rPr lang="en-US" sz="3200" dirty="0" err="1"/>
              <a:t>cout</a:t>
            </a:r>
            <a:r>
              <a:rPr lang="en-US" sz="3200" dirty="0"/>
              <a:t>&lt;&lt;"\n day2="&lt;&lt;day2;</a:t>
            </a:r>
          </a:p>
          <a:p>
            <a:r>
              <a:rPr lang="en-US" sz="3200" dirty="0"/>
              <a:t>	</a:t>
            </a:r>
          </a:p>
          <a:p>
            <a:r>
              <a:rPr lang="en-US" sz="3200" dirty="0"/>
              <a:t>	</a:t>
            </a:r>
            <a:r>
              <a:rPr lang="en-US" sz="3200" dirty="0" err="1"/>
              <a:t>cout</a:t>
            </a:r>
            <a:r>
              <a:rPr lang="en-US" sz="3200" dirty="0"/>
              <a:t>&lt;&lt;"\n result="&lt;&lt;(day2&gt;day1);</a:t>
            </a:r>
          </a:p>
          <a:p>
            <a:r>
              <a:rPr lang="en-US" sz="3200" dirty="0"/>
              <a:t>	</a:t>
            </a:r>
          </a:p>
          <a:p>
            <a:r>
              <a:rPr lang="en-US" sz="3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2050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Shape 1"/>
          <p:cNvSpPr txBox="1"/>
          <p:nvPr/>
        </p:nvSpPr>
        <p:spPr>
          <a:xfrm>
            <a:off x="528797" y="0"/>
            <a:ext cx="10515240" cy="443753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90000"/>
              </a:lnSpc>
            </a:pPr>
            <a:r>
              <a:rPr lang="en-US" sz="4400" dirty="0" smtClean="0">
                <a:solidFill>
                  <a:srgbClr val="000000"/>
                </a:solidFill>
                <a:latin typeface="Calibri Light"/>
              </a:rPr>
              <a:t>Tasks for Lab # 8</a:t>
            </a:r>
            <a:endParaRPr dirty="0"/>
          </a:p>
        </p:txBody>
      </p:sp>
      <p:sp>
        <p:nvSpPr>
          <p:cNvPr id="124" name="TextShape 2"/>
          <p:cNvSpPr txBox="1"/>
          <p:nvPr/>
        </p:nvSpPr>
        <p:spPr>
          <a:xfrm>
            <a:off x="284717" y="548090"/>
            <a:ext cx="11003400" cy="5476192"/>
          </a:xfrm>
          <a:prstGeom prst="rect">
            <a:avLst/>
          </a:prstGeom>
        </p:spPr>
        <p:txBody>
          <a:bodyPr/>
          <a:lstStyle/>
          <a:p>
            <a:endParaRPr lang="en-US" sz="1600" b="1" dirty="0" smtClean="0"/>
          </a:p>
          <a:p>
            <a:r>
              <a:rPr lang="en-US" sz="1600" b="1" dirty="0"/>
              <a:t>Task # 1</a:t>
            </a:r>
            <a:r>
              <a:rPr lang="en-US" sz="1600" b="1" dirty="0" smtClean="0"/>
              <a:t> </a:t>
            </a:r>
            <a:r>
              <a:rPr lang="en-US" sz="2400" dirty="0" smtClean="0"/>
              <a:t>Create a </a:t>
            </a:r>
            <a:r>
              <a:rPr lang="en-US" sz="2400" b="1" dirty="0" smtClean="0"/>
              <a:t>Structure</a:t>
            </a:r>
            <a:r>
              <a:rPr lang="en-US" sz="2400" dirty="0" smtClean="0"/>
              <a:t> called </a:t>
            </a:r>
            <a:r>
              <a:rPr lang="en-US" sz="2400" b="1" dirty="0" smtClean="0"/>
              <a:t>employee</a:t>
            </a:r>
            <a:r>
              <a:rPr lang="en-US" sz="2400" dirty="0" smtClean="0"/>
              <a:t> that contains two members: 			an employee number (type </a:t>
            </a:r>
            <a:r>
              <a:rPr lang="en-US" sz="2400" dirty="0" err="1" smtClean="0"/>
              <a:t>int</a:t>
            </a:r>
            <a:r>
              <a:rPr lang="en-US" sz="2400" dirty="0" smtClean="0"/>
              <a:t>) and the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employee’s salary (type float). 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Ask the user to fill this data for two employees, store it in two 			variables of type </a:t>
            </a:r>
            <a:r>
              <a:rPr lang="en-US" sz="2400" b="1" dirty="0" err="1" smtClean="0"/>
              <a:t>struct</a:t>
            </a:r>
            <a:r>
              <a:rPr lang="en-US" sz="2400" b="1" dirty="0" smtClean="0"/>
              <a:t> employee, </a:t>
            </a:r>
            <a:r>
              <a:rPr lang="en-US" sz="2400" dirty="0" smtClean="0"/>
              <a:t>and then display the 					information for each employee.	</a:t>
            </a:r>
            <a:endParaRPr lang="en-US" sz="2400" u="sng" dirty="0"/>
          </a:p>
          <a:p>
            <a:endParaRPr lang="en-US" sz="1600" b="1" dirty="0"/>
          </a:p>
          <a:p>
            <a:endParaRPr lang="en-US" sz="1600" b="1" dirty="0" smtClean="0"/>
          </a:p>
          <a:p>
            <a:r>
              <a:rPr lang="en-US" sz="1600" b="1" dirty="0" smtClean="0"/>
              <a:t>Task # 2</a:t>
            </a:r>
            <a:r>
              <a:rPr lang="en-US" sz="1600" dirty="0" smtClean="0"/>
              <a:t>	</a:t>
            </a:r>
            <a:r>
              <a:rPr lang="en-US" sz="2400" dirty="0" smtClean="0"/>
              <a:t>Create </a:t>
            </a:r>
            <a:r>
              <a:rPr lang="en-US" sz="2400" dirty="0"/>
              <a:t>a </a:t>
            </a:r>
            <a:r>
              <a:rPr lang="en-US" sz="2400" b="1" dirty="0"/>
              <a:t>Structure</a:t>
            </a:r>
            <a:r>
              <a:rPr lang="en-US" sz="2400" dirty="0"/>
              <a:t> called </a:t>
            </a:r>
            <a:r>
              <a:rPr lang="en-US" sz="2400" b="1" dirty="0" smtClean="0"/>
              <a:t>Students</a:t>
            </a:r>
            <a:r>
              <a:rPr lang="en-US" sz="2400" dirty="0" smtClean="0"/>
              <a:t> that </a:t>
            </a:r>
            <a:r>
              <a:rPr lang="en-US" sz="2400" dirty="0"/>
              <a:t>contains </a:t>
            </a:r>
            <a:r>
              <a:rPr lang="en-US" sz="2400" dirty="0" smtClean="0"/>
              <a:t>two members: </a:t>
            </a:r>
          </a:p>
          <a:p>
            <a:r>
              <a:rPr lang="en-US" sz="2400" dirty="0" smtClean="0"/>
              <a:t>	</a:t>
            </a:r>
            <a:r>
              <a:rPr lang="en-US" sz="2400" dirty="0"/>
              <a:t>	</a:t>
            </a:r>
            <a:r>
              <a:rPr lang="en-US" sz="2400" dirty="0" smtClean="0"/>
              <a:t> student’s obtained marks type(</a:t>
            </a:r>
            <a:r>
              <a:rPr lang="en-US" sz="2400" dirty="0" err="1" smtClean="0"/>
              <a:t>int</a:t>
            </a:r>
            <a:r>
              <a:rPr lang="en-US" sz="2400" dirty="0" smtClean="0"/>
              <a:t>).</a:t>
            </a:r>
          </a:p>
          <a:p>
            <a:r>
              <a:rPr lang="en-US" sz="2400" dirty="0" smtClean="0"/>
              <a:t>		 total marks (type </a:t>
            </a:r>
            <a:r>
              <a:rPr lang="en-US" sz="2400" dirty="0" err="1" smtClean="0"/>
              <a:t>int</a:t>
            </a:r>
            <a:r>
              <a:rPr lang="en-US" sz="2400" dirty="0" smtClean="0"/>
              <a:t>) </a:t>
            </a:r>
            <a:endParaRPr lang="en-US" sz="2400" dirty="0"/>
          </a:p>
          <a:p>
            <a:r>
              <a:rPr lang="en-US" sz="2400" dirty="0"/>
              <a:t>		</a:t>
            </a:r>
            <a:r>
              <a:rPr lang="en-US" sz="2400" dirty="0" smtClean="0"/>
              <a:t> Ask </a:t>
            </a:r>
            <a:r>
              <a:rPr lang="en-US" sz="2400" dirty="0"/>
              <a:t>the user </a:t>
            </a:r>
            <a:r>
              <a:rPr lang="en-US" sz="2400" dirty="0" smtClean="0"/>
              <a:t> for obtained marks and total marks, </a:t>
            </a:r>
            <a:r>
              <a:rPr lang="en-US" sz="2400" dirty="0"/>
              <a:t>store it in a</a:t>
            </a:r>
            <a:r>
              <a:rPr lang="en-US" sz="2400" dirty="0" smtClean="0"/>
              <a:t> 				 variable </a:t>
            </a:r>
            <a:r>
              <a:rPr lang="en-US" sz="2400" dirty="0"/>
              <a:t>of type </a:t>
            </a:r>
            <a:r>
              <a:rPr lang="en-US" sz="2400" b="1" dirty="0" err="1"/>
              <a:t>struct</a:t>
            </a:r>
            <a:r>
              <a:rPr lang="en-US" sz="2400" b="1" dirty="0"/>
              <a:t> </a:t>
            </a:r>
            <a:r>
              <a:rPr lang="en-US" sz="2400" b="1" dirty="0" smtClean="0"/>
              <a:t>student, </a:t>
            </a:r>
            <a:r>
              <a:rPr lang="en-US" sz="2400" dirty="0"/>
              <a:t>and </a:t>
            </a:r>
            <a:r>
              <a:rPr lang="en-US" sz="2400" dirty="0" smtClean="0"/>
              <a:t>then </a:t>
            </a:r>
            <a:r>
              <a:rPr lang="en-US" sz="2400" dirty="0"/>
              <a:t>display </a:t>
            </a:r>
            <a:r>
              <a:rPr lang="en-US" sz="2400" dirty="0" smtClean="0"/>
              <a:t>the percentage.</a:t>
            </a:r>
            <a:r>
              <a:rPr lang="en-US" sz="2400" dirty="0"/>
              <a:t>	</a:t>
            </a:r>
            <a:endParaRPr lang="en-US" sz="2400" u="sng" dirty="0"/>
          </a:p>
          <a:p>
            <a:endParaRPr lang="en-US" sz="1600" b="1" dirty="0"/>
          </a:p>
          <a:p>
            <a:endParaRPr lang="en-US" sz="1600" dirty="0" smtClean="0"/>
          </a:p>
          <a:p>
            <a:endParaRPr lang="en-US" sz="1100" b="1" dirty="0" smtClean="0"/>
          </a:p>
          <a:p>
            <a:endParaRPr lang="en-US" sz="1100" b="1" dirty="0" smtClean="0"/>
          </a:p>
          <a:p>
            <a:endParaRPr lang="en-US" sz="1100" dirty="0" smtClean="0"/>
          </a:p>
          <a:p>
            <a:endParaRPr lang="en-US" sz="1100" b="1" dirty="0" smtClean="0"/>
          </a:p>
        </p:txBody>
      </p:sp>
    </p:spTree>
    <p:extLst>
      <p:ext uri="{BB962C8B-B14F-4D97-AF65-F5344CB8AC3E}">
        <p14:creationId xmlns:p14="http://schemas.microsoft.com/office/powerpoint/2010/main" val="1436046522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3948</TotalTime>
  <Words>598</Words>
  <Application>Microsoft Office PowerPoint</Application>
  <PresentationFormat>Widescreen</PresentationFormat>
  <Paragraphs>232</Paragraphs>
  <Slides>21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0" baseType="lpstr">
      <vt:lpstr>Arial</vt:lpstr>
      <vt:lpstr>Calibri</vt:lpstr>
      <vt:lpstr>Calibri Light</vt:lpstr>
      <vt:lpstr>Century Gothic</vt:lpstr>
      <vt:lpstr>Tahoma</vt:lpstr>
      <vt:lpstr>Times New Roman</vt:lpstr>
      <vt:lpstr>Wingdings</vt:lpstr>
      <vt:lpstr>Wingdings 3</vt:lpstr>
      <vt:lpstr>Ion Boardroom</vt:lpstr>
      <vt:lpstr>Programming Fundamentals    in C++</vt:lpstr>
      <vt:lpstr>PowerPoint Presentation</vt:lpstr>
      <vt:lpstr>PowerPoint Presentation</vt:lpstr>
      <vt:lpstr>PowerPoint Presentation</vt:lpstr>
      <vt:lpstr>PowerPoint Presentation</vt:lpstr>
      <vt:lpstr> Structures</vt:lpstr>
      <vt:lpstr>  Declaring the structure  </vt:lpstr>
      <vt:lpstr>PowerPoint Presentation</vt:lpstr>
      <vt:lpstr>PowerPoint Presentation</vt:lpstr>
      <vt:lpstr>  Declaring the structure  </vt:lpstr>
      <vt:lpstr>Variable Declaration and  Definition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Accessing Nested Structure Members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Sharmeen</dc:creator>
  <cp:lastModifiedBy>Sajjad</cp:lastModifiedBy>
  <cp:revision>574</cp:revision>
  <dcterms:created xsi:type="dcterms:W3CDTF">2014-09-12T02:08:24Z</dcterms:created>
  <dcterms:modified xsi:type="dcterms:W3CDTF">2021-03-07T06:29:56Z</dcterms:modified>
</cp:coreProperties>
</file>