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5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A91C51-895F-4662-BF4F-C02813006166}" type="datetimeFigureOut">
              <a:rPr lang="en-PK" smtClean="0"/>
              <a:t>25/07/2026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E48A0-DD1A-4ABC-8D57-EE135EAFEE4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05675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E48A0-DD1A-4ABC-8D57-EE135EAFEE41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6737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E48A0-DD1A-4ABC-8D57-EE135EAFEE41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08044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7/25/2026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775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397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952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53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57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439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736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24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303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29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75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8667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B0F1BB-9CE3-5A44-AF39-56D96BA1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88542" y="4101177"/>
            <a:ext cx="1373567" cy="2756824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381460-CB75-6044-A945-30251B1AE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88543" y="5476671"/>
            <a:ext cx="2770698" cy="138132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E66359-CC72-3E1F-3FE3-8CA98B5A0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4822" y="1247140"/>
            <a:ext cx="6115110" cy="3450844"/>
          </a:xfrm>
        </p:spPr>
        <p:txBody>
          <a:bodyPr>
            <a:normAutofit/>
          </a:bodyPr>
          <a:lstStyle/>
          <a:p>
            <a:r>
              <a:rPr lang="en-US"/>
              <a:t>The Arzens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C3D99-FC36-2C85-261E-51A355847E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6541" y="4101177"/>
            <a:ext cx="6115110" cy="1781328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PK" sz="2200" b="1" dirty="0"/>
              <a:t>cybersecurity foundations and Professional Readiness</a:t>
            </a:r>
            <a:endParaRPr lang="en-PK" sz="2200" dirty="0"/>
          </a:p>
          <a:p>
            <a:pPr algn="ctr">
              <a:lnSpc>
                <a:spcPct val="100000"/>
              </a:lnSpc>
            </a:pPr>
            <a:r>
              <a:rPr lang="en-PK" sz="2200" b="1" dirty="0"/>
              <a:t>Security Testing Report</a:t>
            </a:r>
            <a:endParaRPr lang="en-PK" sz="2200" dirty="0"/>
          </a:p>
          <a:p>
            <a:pPr>
              <a:lnSpc>
                <a:spcPct val="100000"/>
              </a:lnSpc>
            </a:pPr>
            <a:endParaRPr lang="en-PK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B4E2DE-447A-1C7D-CDD6-CA7D8C236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42" y="895990"/>
            <a:ext cx="2780018" cy="278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93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DD633-934A-FCF9-81C7-6E39A71C4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3510" y="1282154"/>
            <a:ext cx="7891760" cy="788200"/>
          </a:xfrm>
        </p:spPr>
        <p:txBody>
          <a:bodyPr>
            <a:normAutofit fontScale="90000"/>
          </a:bodyPr>
          <a:lstStyle/>
          <a:p>
            <a:r>
              <a:rPr lang="en-US" sz="4500" dirty="0"/>
              <a:t>Submitted By:</a:t>
            </a:r>
            <a:br>
              <a:rPr lang="en-US" dirty="0"/>
            </a:b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3ACE4-AA3C-DF3A-B7CF-4021CA767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56430" y="2230635"/>
            <a:ext cx="7891760" cy="2061450"/>
          </a:xfrm>
        </p:spPr>
        <p:txBody>
          <a:bodyPr>
            <a:noAutofit/>
          </a:bodyPr>
          <a:lstStyle/>
          <a:p>
            <a:r>
              <a:rPr lang="en-US" dirty="0"/>
              <a:t>Name: Mahnoor Shuaib</a:t>
            </a:r>
          </a:p>
          <a:p>
            <a:r>
              <a:rPr lang="en-US" dirty="0"/>
              <a:t>Reference Code: </a:t>
            </a:r>
            <a:r>
              <a:rPr lang="en-PK" dirty="0"/>
              <a:t>ARZ-2026-YJJW</a:t>
            </a:r>
            <a:endParaRPr lang="en-US" dirty="0"/>
          </a:p>
          <a:p>
            <a:r>
              <a:rPr lang="en-US" dirty="0"/>
              <a:t>Internship Track: Cyber Security foundations and Professional Readiness</a:t>
            </a:r>
          </a:p>
        </p:txBody>
      </p:sp>
    </p:spTree>
    <p:extLst>
      <p:ext uri="{BB962C8B-B14F-4D97-AF65-F5344CB8AC3E}">
        <p14:creationId xmlns:p14="http://schemas.microsoft.com/office/powerpoint/2010/main" val="696172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6366E-5000-B36D-B679-D4494E9D0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436406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Finding 1:</a:t>
            </a:r>
            <a:br>
              <a:rPr lang="en-US" sz="4000" dirty="0"/>
            </a:br>
            <a:br>
              <a:rPr lang="en-US" sz="4000" dirty="0"/>
            </a:br>
            <a:r>
              <a:rPr lang="en-US" sz="4600" dirty="0"/>
              <a:t>Issue in </a:t>
            </a:r>
            <a:r>
              <a:rPr lang="en-PK" sz="4600" dirty="0"/>
              <a:t>Ambassador Registration 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643BB-D570-A1E9-94AB-C7992AC2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3581400"/>
            <a:ext cx="7891760" cy="2606040"/>
          </a:xfrm>
        </p:spPr>
        <p:txBody>
          <a:bodyPr/>
          <a:lstStyle/>
          <a:p>
            <a:r>
              <a:rPr lang="en-US" dirty="0"/>
              <a:t>Issue Title: </a:t>
            </a:r>
            <a:r>
              <a:rPr lang="en-PK" dirty="0"/>
              <a:t>Improper Input Validation – Ambassador Registration Form (Multiple Fields)</a:t>
            </a:r>
            <a:endParaRPr lang="en-US" dirty="0"/>
          </a:p>
          <a:p>
            <a:r>
              <a:rPr lang="en-PK" b="1" dirty="0"/>
              <a:t>Affected Page/Feature:</a:t>
            </a:r>
            <a:r>
              <a:rPr lang="en-PK" dirty="0"/>
              <a:t> Ambassador Registration Form (University Name, City, Department, Semester fields)</a:t>
            </a:r>
          </a:p>
        </p:txBody>
      </p:sp>
    </p:spTree>
    <p:extLst>
      <p:ext uri="{BB962C8B-B14F-4D97-AF65-F5344CB8AC3E}">
        <p14:creationId xmlns:p14="http://schemas.microsoft.com/office/powerpoint/2010/main" val="2206111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3208A-4AC3-BCC6-2970-71810CCC6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640080"/>
            <a:ext cx="7891760" cy="5989320"/>
          </a:xfrm>
        </p:spPr>
        <p:txBody>
          <a:bodyPr>
            <a:normAutofit/>
          </a:bodyPr>
          <a:lstStyle/>
          <a:p>
            <a:r>
              <a:rPr lang="en-PK" sz="2000" b="1" dirty="0"/>
              <a:t>Steps to Reproduce:</a:t>
            </a:r>
            <a:endParaRPr lang="en-PK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sz="2000" dirty="0"/>
              <a:t>Navigate to the Ambassador registration form on the website.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sz="2000" dirty="0"/>
              <a:t>Fill in the Name and Email fields with valid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sz="2000" dirty="0"/>
              <a:t>In the </a:t>
            </a:r>
            <a:r>
              <a:rPr lang="en-PK" sz="2000" b="1" dirty="0"/>
              <a:t>University Name</a:t>
            </a:r>
            <a:r>
              <a:rPr lang="en-PK" sz="2000" dirty="0"/>
              <a:t> field, enter numeric characters instead of a valid university name (e.g., 12345).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sz="2000" dirty="0"/>
              <a:t>In the </a:t>
            </a:r>
            <a:r>
              <a:rPr lang="en-PK" sz="2000" b="1" dirty="0"/>
              <a:t>City</a:t>
            </a:r>
            <a:r>
              <a:rPr lang="en-PK" sz="2000" dirty="0"/>
              <a:t> field, enter numeric characters instead of a valid city name (e.g., 12345).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sz="2000" dirty="0"/>
              <a:t>In the </a:t>
            </a:r>
            <a:r>
              <a:rPr lang="en-PK" sz="2000" b="1" dirty="0"/>
              <a:t>Department</a:t>
            </a:r>
            <a:r>
              <a:rPr lang="en-PK" sz="2000" dirty="0"/>
              <a:t> field, enter numeric characters instead of a valid department name (e.g., 12345).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sz="2000" dirty="0"/>
              <a:t>In the </a:t>
            </a:r>
            <a:r>
              <a:rPr lang="en-PK" sz="2000" b="1" dirty="0"/>
              <a:t>Semester</a:t>
            </a:r>
            <a:r>
              <a:rPr lang="en-PK" sz="2000" dirty="0"/>
              <a:t> field, enter an invalid value such as a negative number (e.g., -5) or an out-of-range number (e.g., 12345).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sz="2000" dirty="0"/>
              <a:t>Submit the form.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71657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D03A0B2-4A2F-D846-A5E6-FB7CB9A0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573F1D-73A7-FB41-BCAD-FC9AA7DE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D97D42-A01D-BC41-A1DE-4E2766A4E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258F36-452C-D64A-A553-BEE4EAFE4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966801-7B6C-DC9C-B6CA-415BC8E0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4841" y="1226243"/>
            <a:ext cx="3856418" cy="34496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300" dirty="0"/>
              <a:t>Video recording</a:t>
            </a:r>
            <a:r>
              <a:rPr lang="en-US" sz="5600" dirty="0"/>
              <a:t>: </a:t>
            </a:r>
          </a:p>
        </p:txBody>
      </p:sp>
      <p:pic>
        <p:nvPicPr>
          <p:cNvPr id="10" name="testing 3">
            <a:hlinkClick r:id="" action="ppaction://media"/>
            <a:extLst>
              <a:ext uri="{FF2B5EF4-FFF2-40B4-BE49-F238E27FC236}">
                <a16:creationId xmlns:a16="http://schemas.microsoft.com/office/drawing/2014/main" id="{100F5879-D458-D20B-189F-6D4A92ADA3A5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611859" y="914593"/>
            <a:ext cx="5421894" cy="502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9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833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09211-B09A-54F6-6AFE-5361E510F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0670" y="1447800"/>
            <a:ext cx="7891760" cy="3270250"/>
          </a:xfrm>
        </p:spPr>
        <p:txBody>
          <a:bodyPr>
            <a:noAutofit/>
          </a:bodyPr>
          <a:lstStyle/>
          <a:p>
            <a:r>
              <a:rPr lang="en-PK" sz="2600" b="1" dirty="0"/>
              <a:t>Expected Result:</a:t>
            </a:r>
            <a:r>
              <a:rPr lang="en-PK" sz="2600" dirty="0"/>
              <a:t> The form should validate each field according to its expected data type (e.g., text-only for University Name, City, and Department; a valid numeric range such as 1–8 for Semester) and reject the submission with an appropriate error message if invalid data is entered.</a:t>
            </a:r>
          </a:p>
        </p:txBody>
      </p:sp>
    </p:spTree>
    <p:extLst>
      <p:ext uri="{BB962C8B-B14F-4D97-AF65-F5344CB8AC3E}">
        <p14:creationId xmlns:p14="http://schemas.microsoft.com/office/powerpoint/2010/main" val="3300596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E06F0-EC43-C008-268A-D35F503BF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4950" y="1752600"/>
            <a:ext cx="7891760" cy="3947159"/>
          </a:xfrm>
        </p:spPr>
        <p:txBody>
          <a:bodyPr>
            <a:noAutofit/>
          </a:bodyPr>
          <a:lstStyle/>
          <a:p>
            <a:r>
              <a:rPr lang="en-PK" sz="2700" b="1" dirty="0"/>
              <a:t>Actual Result:</a:t>
            </a:r>
            <a:r>
              <a:rPr lang="en-PK" sz="2700" dirty="0"/>
              <a:t> The form accepted numeric input in all text-based fields (University Name, City, Department) and accepted illogical/out-of-range values in the Semester field (e.g., negative numbers, out-of-range numbers). </a:t>
            </a:r>
            <a:endParaRPr lang="en-US" sz="2700" dirty="0"/>
          </a:p>
          <a:p>
            <a:r>
              <a:rPr lang="en-PK" sz="2700" dirty="0"/>
              <a:t>The application was submitted successfully in every case without any client-side or server-side validation error.</a:t>
            </a:r>
          </a:p>
        </p:txBody>
      </p:sp>
    </p:spTree>
    <p:extLst>
      <p:ext uri="{BB962C8B-B14F-4D97-AF65-F5344CB8AC3E}">
        <p14:creationId xmlns:p14="http://schemas.microsoft.com/office/powerpoint/2010/main" val="2537263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852B-6B56-472A-C992-A4CB85922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783080"/>
            <a:ext cx="8406970" cy="975360"/>
          </a:xfrm>
        </p:spPr>
        <p:txBody>
          <a:bodyPr>
            <a:normAutofit/>
          </a:bodyPr>
          <a:lstStyle/>
          <a:p>
            <a:r>
              <a:rPr lang="en-PK" sz="4500" dirty="0"/>
              <a:t>Severity/Impact: Low (🔵</a:t>
            </a:r>
            <a:r>
              <a:rPr lang="en-US" sz="4500" dirty="0"/>
              <a:t>)</a:t>
            </a:r>
            <a:endParaRPr lang="en-PK" sz="45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12573-08DE-0472-94DC-D9D5628DF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2758440"/>
            <a:ext cx="7891760" cy="2660650"/>
          </a:xfrm>
        </p:spPr>
        <p:txBody>
          <a:bodyPr/>
          <a:lstStyle/>
          <a:p>
            <a:r>
              <a:rPr lang="en-PK" dirty="0"/>
              <a:t>Allows storage of illogical and inconsistent data in the backend database, affecting data integrity. Indicates a likely absence of server-side input validation across the form. Could allow automated bots or malicious users to flood the database with junk/fake registrations.</a:t>
            </a:r>
          </a:p>
        </p:txBody>
      </p:sp>
    </p:spTree>
    <p:extLst>
      <p:ext uri="{BB962C8B-B14F-4D97-AF65-F5344CB8AC3E}">
        <p14:creationId xmlns:p14="http://schemas.microsoft.com/office/powerpoint/2010/main" val="2246515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9D88B-978B-9FEE-9DE8-DE8348C8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030" y="918680"/>
            <a:ext cx="7891760" cy="788200"/>
          </a:xfrm>
        </p:spPr>
        <p:txBody>
          <a:bodyPr>
            <a:normAutofit/>
          </a:bodyPr>
          <a:lstStyle/>
          <a:p>
            <a:r>
              <a:rPr lang="en-PK" sz="4400" dirty="0"/>
              <a:t>Recommended Solution: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40FDD-E8E7-A346-7870-23C6A6F59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8750" y="1877696"/>
            <a:ext cx="7891760" cy="3620770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dirty="0"/>
              <a:t>Implement server-side input validation for all form fields, not just client-side (JavaScript) checks, since client-side validation can be bypassed.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dirty="0"/>
              <a:t>Restrict the </a:t>
            </a:r>
            <a:r>
              <a:rPr lang="en-PK" b="1" dirty="0"/>
              <a:t>Semester</a:t>
            </a:r>
            <a:r>
              <a:rPr lang="en-PK" dirty="0"/>
              <a:t> field to a defined numeric range (e.g., dropdown selection of 1–8, or numeric min/max validation).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dirty="0"/>
              <a:t>Restrict </a:t>
            </a:r>
            <a:r>
              <a:rPr lang="en-PK" b="1" dirty="0"/>
              <a:t>University Name</a:t>
            </a:r>
            <a:r>
              <a:rPr lang="en-PK" dirty="0"/>
              <a:t>, </a:t>
            </a:r>
            <a:r>
              <a:rPr lang="en-PK" b="1" dirty="0"/>
              <a:t>City</a:t>
            </a:r>
            <a:r>
              <a:rPr lang="en-PK" dirty="0"/>
              <a:t>, and </a:t>
            </a:r>
            <a:r>
              <a:rPr lang="en-PK" b="1" dirty="0"/>
              <a:t>Department</a:t>
            </a:r>
            <a:r>
              <a:rPr lang="en-PK" dirty="0"/>
              <a:t> fields to alphabetic/text input patterns using regex validation, disallowing purely numeric entries.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dirty="0"/>
              <a:t>Apply consistent validation rules across the entire form and return clear error messages when invalid data is submitted.</a:t>
            </a:r>
          </a:p>
        </p:txBody>
      </p:sp>
    </p:spTree>
    <p:extLst>
      <p:ext uri="{BB962C8B-B14F-4D97-AF65-F5344CB8AC3E}">
        <p14:creationId xmlns:p14="http://schemas.microsoft.com/office/powerpoint/2010/main" val="3713620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91ADF-1C8E-434A-D080-61D2C8DCC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4006126"/>
          </a:xfrm>
        </p:spPr>
        <p:txBody>
          <a:bodyPr>
            <a:noAutofit/>
          </a:bodyPr>
          <a:lstStyle/>
          <a:p>
            <a:r>
              <a:rPr lang="en-PK" sz="4000" dirty="0"/>
              <a:t>Finding 2</a:t>
            </a:r>
            <a:r>
              <a:rPr lang="en-US" sz="4000" dirty="0"/>
              <a:t>:</a:t>
            </a:r>
            <a:br>
              <a:rPr lang="en-PK" sz="4000" dirty="0"/>
            </a:br>
            <a:br>
              <a:rPr lang="en-US" sz="4000" dirty="0"/>
            </a:br>
            <a:r>
              <a:rPr lang="en-PK" sz="3500" dirty="0"/>
              <a:t>Issue Title: Unrestricted File Upload</a:t>
            </a:r>
            <a:br>
              <a:rPr lang="en-US" sz="3500" dirty="0"/>
            </a:br>
            <a:br>
              <a:rPr lang="en-US" sz="3500" dirty="0"/>
            </a:br>
            <a:r>
              <a:rPr lang="en-PK" sz="3500" dirty="0"/>
              <a:t>No File Extension/Type Validation on Resume Field</a:t>
            </a:r>
            <a:br>
              <a:rPr lang="en-PK" sz="4000" dirty="0"/>
            </a:br>
            <a:endParaRPr lang="en-PK" sz="4000" dirty="0"/>
          </a:p>
        </p:txBody>
      </p:sp>
    </p:spTree>
    <p:extLst>
      <p:ext uri="{BB962C8B-B14F-4D97-AF65-F5344CB8AC3E}">
        <p14:creationId xmlns:p14="http://schemas.microsoft.com/office/powerpoint/2010/main" val="1339223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9F1DF-EDC2-49C0-E8BF-19FFDF5BC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430" y="2044154"/>
            <a:ext cx="7891760" cy="3061246"/>
          </a:xfrm>
        </p:spPr>
        <p:txBody>
          <a:bodyPr>
            <a:normAutofit fontScale="90000"/>
          </a:bodyPr>
          <a:lstStyle/>
          <a:p>
            <a:r>
              <a:rPr lang="en-PK" dirty="0"/>
              <a:t>Finding 2</a:t>
            </a:r>
            <a:r>
              <a:rPr lang="en-US" dirty="0"/>
              <a:t>: </a:t>
            </a:r>
            <a:br>
              <a:rPr lang="en-US" dirty="0"/>
            </a:br>
            <a:r>
              <a:rPr lang="en-PK" sz="3900" dirty="0"/>
              <a:t>Unrestricted File Upload</a:t>
            </a:r>
            <a:r>
              <a:rPr lang="en-US" sz="3900" dirty="0"/>
              <a:t>, </a:t>
            </a:r>
            <a:r>
              <a:rPr lang="en-PK" sz="3900" dirty="0"/>
              <a:t>No File Extension/Type Validation on Resume Field</a:t>
            </a:r>
            <a:br>
              <a:rPr lang="en-US" dirty="0"/>
            </a:b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27416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B0044-ECA1-1311-2B08-790E8A137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910" y="1371600"/>
            <a:ext cx="7891760" cy="5288280"/>
          </a:xfrm>
        </p:spPr>
        <p:txBody>
          <a:bodyPr>
            <a:normAutofit/>
          </a:bodyPr>
          <a:lstStyle/>
          <a:p>
            <a:r>
              <a:rPr lang="en-PK" b="1" dirty="0"/>
              <a:t>Affected Page/Feature:</a:t>
            </a:r>
            <a:r>
              <a:rPr lang="en-PK" dirty="0"/>
              <a:t> Ambassador Registration Form (Resume Upload field)</a:t>
            </a:r>
            <a:endParaRPr lang="en-US" dirty="0"/>
          </a:p>
          <a:p>
            <a:r>
              <a:rPr lang="en-PK" b="1" dirty="0"/>
              <a:t>Steps to Reproduce:</a:t>
            </a:r>
            <a:endParaRPr lang="en-PK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dirty="0"/>
              <a:t>Navigate to the Ambassador registration 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dirty="0"/>
              <a:t>Fill all required fields with valid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dirty="0"/>
              <a:t>In the </a:t>
            </a:r>
            <a:r>
              <a:rPr lang="en-PK" b="1" dirty="0"/>
              <a:t>Resume upload</a:t>
            </a:r>
            <a:r>
              <a:rPr lang="en-PK" dirty="0"/>
              <a:t> field, select and upload a file with a non-document extension (e.g., a .</a:t>
            </a:r>
            <a:r>
              <a:rPr lang="en-PK" dirty="0" err="1"/>
              <a:t>py</a:t>
            </a:r>
            <a:r>
              <a:rPr lang="en-PK" dirty="0"/>
              <a:t> Python file) instead of the expected .pdf/.doc 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dirty="0"/>
              <a:t>Submit the form.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71674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841BE-5B59-ADC8-A3E6-BD0C2822E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870" y="1048068"/>
            <a:ext cx="3685330" cy="1550419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Video </a:t>
            </a:r>
            <a:br>
              <a:rPr lang="en-US" sz="5400" dirty="0"/>
            </a:br>
            <a:r>
              <a:rPr lang="en-US" sz="5400" dirty="0"/>
              <a:t>Recording: </a:t>
            </a:r>
            <a:endParaRPr lang="en-PK" sz="5400" dirty="0"/>
          </a:p>
        </p:txBody>
      </p:sp>
      <p:pic>
        <p:nvPicPr>
          <p:cNvPr id="4" name="final test">
            <a:hlinkClick r:id="" action="ppaction://media"/>
            <a:extLst>
              <a:ext uri="{FF2B5EF4-FFF2-40B4-BE49-F238E27FC236}">
                <a16:creationId xmlns:a16="http://schemas.microsoft.com/office/drawing/2014/main" id="{1F2F926B-07A3-B8F6-4862-731470D657C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593080" y="270836"/>
            <a:ext cx="6076851" cy="5703244"/>
          </a:xfrm>
        </p:spPr>
      </p:pic>
    </p:spTree>
    <p:extLst>
      <p:ext uri="{BB962C8B-B14F-4D97-AF65-F5344CB8AC3E}">
        <p14:creationId xmlns:p14="http://schemas.microsoft.com/office/powerpoint/2010/main" val="4021623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47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93966-7D79-C096-26F5-DB4A17C87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99230" y="1767840"/>
            <a:ext cx="7891760" cy="1935480"/>
          </a:xfrm>
        </p:spPr>
        <p:txBody>
          <a:bodyPr/>
          <a:lstStyle/>
          <a:p>
            <a:r>
              <a:rPr lang="en-PK" b="1" dirty="0"/>
              <a:t>Expected Result:</a:t>
            </a:r>
            <a:r>
              <a:rPr lang="en-PK" dirty="0"/>
              <a:t> The system should validate the uploaded file's type/extension and reject any file that is not an approved document format (e.g., PDF, DOC, DOCX), returning a clear error message</a:t>
            </a:r>
          </a:p>
        </p:txBody>
      </p:sp>
    </p:spTree>
    <p:extLst>
      <p:ext uri="{BB962C8B-B14F-4D97-AF65-F5344CB8AC3E}">
        <p14:creationId xmlns:p14="http://schemas.microsoft.com/office/powerpoint/2010/main" val="3076583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8E5C4-AB36-4290-7DD7-9894E044C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60190" y="1920240"/>
            <a:ext cx="8361250" cy="1844040"/>
          </a:xfrm>
        </p:spPr>
        <p:txBody>
          <a:bodyPr>
            <a:normAutofit/>
          </a:bodyPr>
          <a:lstStyle/>
          <a:p>
            <a:r>
              <a:rPr lang="en-PK" b="1" dirty="0"/>
              <a:t>Actual Result:</a:t>
            </a:r>
            <a:r>
              <a:rPr lang="en-PK" dirty="0"/>
              <a:t> The system accepted a .</a:t>
            </a:r>
            <a:r>
              <a:rPr lang="en-PK" dirty="0" err="1"/>
              <a:t>py</a:t>
            </a:r>
            <a:r>
              <a:rPr lang="en-PK" dirty="0"/>
              <a:t> (Python script) file in the Resume upload field without any restriction, and the application was submitted successfully.</a:t>
            </a: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17129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F5A02-1408-7D2C-70C0-DFD2DFE71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1080046"/>
          </a:xfrm>
        </p:spPr>
        <p:txBody>
          <a:bodyPr>
            <a:normAutofit/>
          </a:bodyPr>
          <a:lstStyle/>
          <a:p>
            <a:r>
              <a:rPr lang="en-PK" sz="4100" dirty="0"/>
              <a:t>Severity/Impact: Medium (🔵</a:t>
            </a:r>
            <a:r>
              <a:rPr lang="en-US" sz="4100" dirty="0"/>
              <a:t>)</a:t>
            </a:r>
            <a:endParaRPr lang="en-PK" sz="41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A9D50-9BB3-5516-8D33-5F355FE8D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71800" y="1965960"/>
            <a:ext cx="8141110" cy="412369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dirty="0"/>
              <a:t>Lack of file type/extension validation on file uploads is a significant risk area: if the server does not also validate file content and storage handling, it could potentially allow upload of executable or script files, which  depending on server configuration</a:t>
            </a:r>
            <a:r>
              <a:rPr lang="en-US" dirty="0"/>
              <a:t>, </a:t>
            </a:r>
            <a:r>
              <a:rPr lang="en-PK" dirty="0"/>
              <a:t> may lead to remote code execution, server compromise, or defacement.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dirty="0"/>
              <a:t>Even without further exploitation, this represents a meaningful gap in input validation that goes beyond simple data-integrity concerns, since uploaded files are typically stored and may be accessed/executed under certain server misconfigurations.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2726450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1B1C2-C5B3-837C-4F65-1260F5FA7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6390" y="579120"/>
            <a:ext cx="7705930" cy="5852160"/>
          </a:xfrm>
        </p:spPr>
        <p:txBody>
          <a:bodyPr>
            <a:normAutofit fontScale="92500" lnSpcReduction="10000"/>
          </a:bodyPr>
          <a:lstStyle/>
          <a:p>
            <a:r>
              <a:rPr lang="en-PK" sz="2600" b="1" dirty="0"/>
              <a:t>Recommended Solution:</a:t>
            </a:r>
            <a:endParaRPr lang="en-PK" sz="2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dirty="0"/>
              <a:t>Validate uploaded file types both by </a:t>
            </a:r>
            <a:r>
              <a:rPr lang="en-PK" b="1" dirty="0"/>
              <a:t>file extension</a:t>
            </a:r>
            <a:r>
              <a:rPr lang="en-PK" dirty="0"/>
              <a:t> and </a:t>
            </a:r>
            <a:r>
              <a:rPr lang="en-PK" b="1" dirty="0"/>
              <a:t>MIME type/file signature (magic bytes)</a:t>
            </a:r>
            <a:r>
              <a:rPr lang="en-PK" dirty="0"/>
              <a:t> — do not rely on extension alone, as it can be spoofed.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dirty="0"/>
              <a:t>Restrict accepted file types strictly to expected formats (e.g., .pdf, .doc, .docx).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dirty="0"/>
              <a:t>Store uploaded files outside the web root, or in a location where they cannot be directly executed by the server.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dirty="0"/>
              <a:t>Rename uploaded files upon storage (e.g., using a generated ID) rather than preserving user-supplied file names.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dirty="0"/>
              <a:t>Implement a maximum file size limit and scan uploaded files for malware where feasible.</a:t>
            </a:r>
          </a:p>
        </p:txBody>
      </p:sp>
    </p:spTree>
    <p:extLst>
      <p:ext uri="{BB962C8B-B14F-4D97-AF65-F5344CB8AC3E}">
        <p14:creationId xmlns:p14="http://schemas.microsoft.com/office/powerpoint/2010/main" val="821287570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Interweave-R1">
      <a:dk1>
        <a:srgbClr val="000000"/>
      </a:dk1>
      <a:lt1>
        <a:srgbClr val="FFFFFF"/>
      </a:lt1>
      <a:dk2>
        <a:srgbClr val="292C2D"/>
      </a:dk2>
      <a:lt2>
        <a:srgbClr val="DDDEDD"/>
      </a:lt2>
      <a:accent1>
        <a:srgbClr val="0BA5E8"/>
      </a:accent1>
      <a:accent2>
        <a:srgbClr val="5066E1"/>
      </a:accent2>
      <a:accent3>
        <a:srgbClr val="894EC0"/>
      </a:accent3>
      <a:accent4>
        <a:srgbClr val="E54196"/>
      </a:accent4>
      <a:accent5>
        <a:srgbClr val="BE4449"/>
      </a:accent5>
      <a:accent6>
        <a:srgbClr val="F55822"/>
      </a:accent6>
      <a:hlink>
        <a:srgbClr val="C22DD8"/>
      </a:hlink>
      <a:folHlink>
        <a:srgbClr val="737F82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874</Words>
  <Application>Microsoft Office PowerPoint</Application>
  <PresentationFormat>Widescreen</PresentationFormat>
  <Paragraphs>51</Paragraphs>
  <Slides>17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Neue Haas Grotesk Text Pro</vt:lpstr>
      <vt:lpstr>InterweaveVTI</vt:lpstr>
      <vt:lpstr>The Arzens</vt:lpstr>
      <vt:lpstr>Submitted By: </vt:lpstr>
      <vt:lpstr>Finding 1:  Issue in Ambassador Registration Form</vt:lpstr>
      <vt:lpstr>PowerPoint Presentation</vt:lpstr>
      <vt:lpstr>Video recording: </vt:lpstr>
      <vt:lpstr>PowerPoint Presentation</vt:lpstr>
      <vt:lpstr>PowerPoint Presentation</vt:lpstr>
      <vt:lpstr>Severity/Impact: Low (🔵)</vt:lpstr>
      <vt:lpstr>Recommended Solution:</vt:lpstr>
      <vt:lpstr>Finding 2:  Issue Title: Unrestricted File Upload  No File Extension/Type Validation on Resume Field </vt:lpstr>
      <vt:lpstr>Finding 2:  Unrestricted File Upload, No File Extension/Type Validation on Resume Field  </vt:lpstr>
      <vt:lpstr>PowerPoint Presentation</vt:lpstr>
      <vt:lpstr>Video  Recording: </vt:lpstr>
      <vt:lpstr>PowerPoint Presentation</vt:lpstr>
      <vt:lpstr>PowerPoint Presentation</vt:lpstr>
      <vt:lpstr>Severity/Impact: Medium (🔵)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Mahnoor Shuaib</dc:creator>
  <cp:lastModifiedBy>Mahnoor Shuaib</cp:lastModifiedBy>
  <cp:revision>1</cp:revision>
  <dcterms:created xsi:type="dcterms:W3CDTF">2026-07-24T19:39:34Z</dcterms:created>
  <dcterms:modified xsi:type="dcterms:W3CDTF">2026-07-24T20:24:57Z</dcterms:modified>
</cp:coreProperties>
</file>